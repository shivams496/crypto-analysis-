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⚔️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88720" y="1325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AI Trading Bot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920240"/>
            <a:ext cx="1403604" cy="237744"/>
          </a:xfrm>
          <a:prstGeom prst="rect">
            <a:avLst/>
          </a:prstGeom>
          <a:solidFill>
            <a:srgbClr val="E03030">
              <a:alpha val="15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20240"/>
            <a:ext cx="140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78608" y="1920240"/>
            <a:ext cx="1924812" cy="237744"/>
          </a:xfrm>
          <a:prstGeom prst="rect">
            <a:avLst/>
          </a:prstGeom>
          <a:solidFill>
            <a:srgbClr val="18A8B8">
              <a:alpha val="15000"/>
            </a:srgbClr>
          </a:solidFill>
          <a:ln w="6350">
            <a:solidFill>
              <a:srgbClr val="18A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920240"/>
            <a:ext cx="1924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 + LSTM + FINBERT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1316736" cy="237744"/>
          </a:xfrm>
          <a:prstGeom prst="rect">
            <a:avLst/>
          </a:prstGeom>
          <a:solidFill>
            <a:srgbClr val="1AAB5C">
              <a:alpha val="15000"/>
            </a:srgbClr>
          </a:solidFill>
          <a:ln w="6350">
            <a:solidFill>
              <a:srgbClr val="1AA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2024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TRADING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94960" y="1920240"/>
            <a:ext cx="1837944" cy="237744"/>
          </a:xfrm>
          <a:prstGeom prst="rect">
            <a:avLst/>
          </a:prstGeom>
          <a:solidFill>
            <a:srgbClr val="C8922A">
              <a:alpha val="15000"/>
            </a:srgbClr>
          </a:solidFill>
          <a:ln w="635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920240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YEAR PROJECT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Shivam Singh  ·  B.Tech CSE — Final Year  · 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457200"/>
            <a:ext cx="1920240" cy="8229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457200"/>
            <a:ext cx="36576" cy="8229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502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67728" y="914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TRADED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0" y="1463040"/>
            <a:ext cx="1920240" cy="8229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463040"/>
            <a:ext cx="36576" cy="8229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67728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 WIN RATE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2468880"/>
            <a:ext cx="1920240" cy="8229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2468880"/>
            <a:ext cx="36576" cy="8229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67728" y="2926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vs B&amp;H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3474720"/>
            <a:ext cx="1920240" cy="8229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3474720"/>
            <a:ext cx="36576" cy="8229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3520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H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67728" y="3931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Crypto Trading &amp; Why AI?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 that ZORO was built to solve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5176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36576" cy="25603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 Never Sleep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57860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trades 24/7 across hundreds of coins. No human can monitor all signals continuously without missing opportunities.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463040"/>
            <a:ext cx="265176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463040"/>
            <a:ext cx="36576" cy="25603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74136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Sees What Humans Miss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4136" y="257860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process RSI, MACD, Bollinger Bands, LSTM predictions, and news sentiment simultaneously in milliseconds.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463040"/>
            <a:ext cx="265176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463040"/>
            <a:ext cx="36576" cy="25603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27064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Everything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257860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human spots an RSI oversold signal, calculates confidence, and places an order — the opportunity is gone.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automated crypto trading difficult?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36576" cy="12801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69848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" y="17647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24/7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can monitor 5 coins with 7 indicators simultaneously around the clock without fatigue or missed signals.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06908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36576" cy="12801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67528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67528" y="17647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Signals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67528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Bollinger Bands, ATR, SMA, LSTM, sentiment — combining 7+ signals manually in real time is impossible.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406908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80360"/>
            <a:ext cx="36576" cy="12801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69848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" y="3227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Kill Returns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35204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greed cause retail traders to buy tops and sell bottoms. An AI follows rules with zero emotion.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406908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80360"/>
            <a:ext cx="36576" cy="12801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17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67528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67528" y="3227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Backtest Ideas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67528" y="35204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systematic bot, you can't test if an RSI 25/75 strategy actually beats Buy-and-Hold on 1 year of data.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OBJECTIVE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ZORO Does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core goals of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920240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36576" cy="2743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Trade Signals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BUY/SELL/HOLD signals using 7 technical gates with a confidence score out of 100.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32888" y="1417320"/>
            <a:ext cx="1920240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417320"/>
            <a:ext cx="36576" cy="2743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24328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Price Patterns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24328" y="260604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 trained on 60-hour sequences predicts the 4-hour price direction with validated 54% accuracy.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1417320"/>
            <a:ext cx="1920240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417320"/>
            <a:ext cx="36576" cy="2743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45736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Paper Trades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5736" y="260604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real orders on Binance Testnet (fake money) when confidence ≥ 70/100. Tracks P&amp;L, stop-loss, take-profit.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75704" y="1417320"/>
            <a:ext cx="1920240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5704" y="1417320"/>
            <a:ext cx="36576" cy="2743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67144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67144" y="260604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shows exactly which indicator (RSI 47%, Sentiment 31%, BB 18%) drove each trade decision.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&amp; COINS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Coins · 1 Year of Hourly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Fetched from Yahoo Finance via yfinance library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20240" cy="914400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36576" cy="914400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32888" y="1325880"/>
            <a:ext cx="1920240" cy="914400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325880"/>
            <a:ext cx="36576" cy="914400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3898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24328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54296" y="1325880"/>
            <a:ext cx="1920240" cy="914400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325880"/>
            <a:ext cx="36576" cy="914400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3898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45736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 BARS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75704" y="1325880"/>
            <a:ext cx="1920240" cy="914400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1325880"/>
            <a:ext cx="36576" cy="914400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3898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67144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2468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TRADED — BINANCE TESTNET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411480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88920"/>
            <a:ext cx="36576" cy="32918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 / USD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284378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191256"/>
            <a:ext cx="411480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1AAB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191256"/>
            <a:ext cx="36576" cy="329184"/>
          </a:xfrm>
          <a:prstGeom prst="rect">
            <a:avLst/>
          </a:prstGeom>
          <a:solidFill>
            <a:srgbClr val="1AAB5C"/>
          </a:solidFill>
          <a:ln w="12700">
            <a:solidFill>
              <a:srgbClr val="1AA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278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/ USD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324612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593592"/>
            <a:ext cx="411480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593592"/>
            <a:ext cx="36576" cy="32918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30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 / USD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364845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995928"/>
            <a:ext cx="411480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995928"/>
            <a:ext cx="36576" cy="329184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325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BNB / USD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0" y="40507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Coin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398264"/>
            <a:ext cx="4114800" cy="329184"/>
          </a:xfrm>
          <a:prstGeom prst="rect">
            <a:avLst/>
          </a:prstGeom>
          <a:solidFill>
            <a:srgbClr val="0D1117"/>
          </a:solidFill>
          <a:ln w="9525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4398264"/>
            <a:ext cx="36576" cy="32918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34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/ USD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0" y="445312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INDICATORS COMPUTED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(14)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3118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MACD + Signal + Histogram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Bollinger Bands (20,2)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 (14) — volatility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105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 20 + SMA 50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4632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 (10-bar)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4764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Ratio (20-bar avg)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TECHNOLOGIES USED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layer of the ZORO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32888" y="137160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37160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4328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24328" y="21305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54296" y="137160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37160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45736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45736" y="21305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RL Agent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75704" y="137160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5704" y="137160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67144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/ VADER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67144" y="21305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256032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56032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292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3192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32888" y="256032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32888" y="256032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624328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24328" y="33192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KATANA Dashboard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54296" y="256032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54296" y="256032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5736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745736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33192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Backend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75704" y="256032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75704" y="256032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867144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67144" y="33192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Database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" y="374904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1480" y="374904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02920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vectorbt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32888" y="374904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532888" y="374904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24328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2624328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624328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54296" y="374904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54296" y="374904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45736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🤗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4745736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45736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Hosting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775704" y="3749040"/>
            <a:ext cx="192024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775704" y="3749040"/>
            <a:ext cx="36576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67144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6867144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Testnet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67144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Exchange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raw price becomes a trade decision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560320" cy="132588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" cy="1325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" y="18105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21214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/ Binance WebSocket fetches OHLCV every 5 min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560320" cy="132588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71600"/>
            <a:ext cx="36576" cy="1325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1435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18105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1214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BB, ATR, SMA computed on 180-day history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371600"/>
            <a:ext cx="2560320" cy="132588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371600"/>
            <a:ext cx="36576" cy="1325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1435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99048" y="18105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99048" y="21214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predicts 4H direction · PPO agent gives BUY/SELL/HOLD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926080"/>
            <a:ext cx="2560320" cy="132588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926080"/>
            <a:ext cx="36576" cy="1325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1208" y="3364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" y="36758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reads CoinDesk + Messari RSS · scores headlines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2926080"/>
            <a:ext cx="2560320" cy="132588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926080"/>
            <a:ext cx="36576" cy="1325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0332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10128" y="3364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7-Gate Score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36758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combined into confidence score /100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89320" y="2926080"/>
            <a:ext cx="2560320" cy="132588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9320" y="2926080"/>
            <a:ext cx="36576" cy="1325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990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⚔️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099048" y="3364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Fired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99048" y="36758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 → Binance Testnet order placed + Telegram alert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solidFill>
            <a:srgbClr val="E03030">
              <a:alpha val="12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681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Key Rule:  Score ≥ 70/100 required to fire a trade. Below 70 = HOLD. This prevents overtrading.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7-Gate Signal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trade requires passing all 7 gates — confidence score out of 100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7772400" cy="320040"/>
          </a:xfrm>
          <a:prstGeom prst="rect">
            <a:avLst/>
          </a:prstGeom>
          <a:solidFill>
            <a:srgbClr val="E03030">
              <a:alpha val="20000"/>
            </a:srgbClr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29000" y="14356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46520" y="14356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77724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379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RSI (25 / 75)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8379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Oversold / Overbought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837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±20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58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SMC / SMA 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258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structure trend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258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±10 pts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606040"/>
            <a:ext cx="77724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9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MACD Histogram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6791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direction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679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±10 pts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99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Bollinger Bands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099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position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3099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±15 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447288"/>
            <a:ext cx="77724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20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LSTM Neural Net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35204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price direction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520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±15 pts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41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FinBERT Sentiment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9410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NLP score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9410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±10 pts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288536"/>
            <a:ext cx="77724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61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Volume Ratio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4361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confirmation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4361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±5 pts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663440"/>
            <a:ext cx="3794760" cy="292608"/>
          </a:xfrm>
          <a:prstGeom prst="rect">
            <a:avLst/>
          </a:prstGeom>
          <a:solidFill>
            <a:srgbClr val="1AAB5C">
              <a:alpha val="15000"/>
            </a:srgbClr>
          </a:solidFill>
          <a:ln w="6350">
            <a:solidFill>
              <a:srgbClr val="1AA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90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⚔️  BUY  →  Score ≥ 70 / 100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4663440"/>
            <a:ext cx="3794760" cy="292608"/>
          </a:xfrm>
          <a:prstGeom prst="rect">
            <a:avLst/>
          </a:prstGeom>
          <a:solidFill>
            <a:srgbClr val="E03030">
              <a:alpha val="15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4690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🔻  SELL  →  Score ≤ −20 / 100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NEURAL NETWORK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LSTM?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 the neural network at the heart of ZORO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8404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" cy="22860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Why LSTM?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prices are time-series — order matters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has memory across 60-hour sequences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how early candles affect later ones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neural nets ignore sequence order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42976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371600"/>
            <a:ext cx="36576" cy="2286000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481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18836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</a:t>
            </a:r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60h sequence × 7 features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311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Layer 1  </a:t>
            </a:r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units → dropout 0.2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5786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Layer 2  </a:t>
            </a:r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units → dropout 0.2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Layer 3  </a:t>
            </a:r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units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273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</a:t>
            </a:r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P(price goes UP in 4H)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594360"/>
          </a:xfrm>
          <a:prstGeom prst="rect">
            <a:avLst/>
          </a:prstGeom>
          <a:solidFill>
            <a:srgbClr val="E03030">
              <a:alpha val="10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04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 The LSTM predicts UP probability for the next 4 hours. If P(UP) &gt; 60% → +15 pts to confidence score. If P(UP) &lt; 40% → −15 pts. Walk-forward validated accuracy: 54% — honest, no lookahead bias.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526280"/>
            <a:ext cx="1920240" cy="457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526280"/>
            <a:ext cx="36576" cy="457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60h  Sequence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32888" y="4526280"/>
            <a:ext cx="1920240" cy="457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32888" y="4526280"/>
            <a:ext cx="36576" cy="457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Features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54296" y="4526280"/>
            <a:ext cx="1920240" cy="457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54296" y="4526280"/>
            <a:ext cx="36576" cy="457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54%  Accuracy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75704" y="4526280"/>
            <a:ext cx="1920240" cy="4572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75704" y="4526280"/>
            <a:ext cx="36576" cy="4572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ETH-USD  Trained 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REINFORCEMENT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Reinforcement Learning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bot that learned to trade by trial and error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8404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36576" cy="22860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Why Reinforcement Learning?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'correct' trades needed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from reward and punishment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too early → penalized. Good entry → rewarded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training steps on 1 year of ETH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4297680" cy="2286000"/>
          </a:xfrm>
          <a:prstGeom prst="rect">
            <a:avLst/>
          </a:prstGeom>
          <a:solidFill>
            <a:srgbClr val="0D1117"/>
          </a:solidFill>
          <a:ln w="9525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371600"/>
            <a:ext cx="36576" cy="22860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481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vs Benchmarks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8836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 Agent Return     </a:t>
            </a:r>
            <a:pPr indent="0" marL="0">
              <a:buNone/>
            </a:pPr>
            <a:r>
              <a:rPr lang="en-US" sz="10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−1.6%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311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Rate            </a:t>
            </a:r>
            <a:pPr indent="0" marL="0">
              <a:buNone/>
            </a:pPr>
            <a:r>
              <a:rPr lang="en-US" sz="10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5786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Strategy        </a:t>
            </a:r>
            <a:pPr indent="0" marL="0">
              <a:buNone/>
            </a:pPr>
            <a:r>
              <a:rPr lang="en-US" sz="10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−40.4%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&amp; Hold          </a:t>
            </a:r>
            <a:pPr indent="0" marL="0">
              <a:buNone/>
            </a:pPr>
            <a:r>
              <a:rPr lang="en-US" sz="10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−19.8%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273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vs B&amp;H        </a:t>
            </a:r>
            <a:pPr indent="0" marL="0">
              <a:buNone/>
            </a:pPr>
            <a:r>
              <a:rPr lang="en-US" sz="1000" b="1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+18.2%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solidFill>
            <a:srgbClr val="C8922A">
              <a:alpha val="12000"/>
            </a:srgbClr>
          </a:solidFill>
          <a:ln w="6350">
            <a:solidFill>
              <a:srgbClr val="C89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5876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The RL Agent outperforms both the RSI strategy and Buy-and-Hold in a bear market year — proving it learned to short and avoid bad entries.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 RESULTS — UPGRADE 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Coins · Real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year of hourly data · RSI 25/75 strategy · vectorbt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320040"/>
          </a:xfrm>
          <a:prstGeom prst="rect">
            <a:avLst/>
          </a:prstGeom>
          <a:solidFill>
            <a:srgbClr val="E03030">
              <a:alpha val="20000"/>
            </a:srgbClr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14356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03320" y="14356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4920" y="14356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29400" y="1435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DRAWDOWN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764792"/>
            <a:ext cx="83210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−15.3%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1874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874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−45.3%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3682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368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−14.1%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23682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3682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54.3%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3682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−39.8%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752344"/>
            <a:ext cx="83210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402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−12.0%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28620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862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−46.5%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A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3355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A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+16.9%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33558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3558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−31.2%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3739896"/>
            <a:ext cx="83210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49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40280" y="3849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−61.2%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03320" y="3849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38496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53.3%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3849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−69.0%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389120"/>
            <a:ext cx="8321040" cy="502920"/>
          </a:xfrm>
          <a:prstGeom prst="rect">
            <a:avLst/>
          </a:prstGeom>
          <a:solidFill>
            <a:srgbClr val="1AAB5C">
              <a:alpha val="12000"/>
            </a:srgbClr>
          </a:solidFill>
          <a:ln w="6350">
            <a:solidFill>
              <a:srgbClr val="1AAB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3484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BNB is the ONLY profitable coin (+16.9%) — its lower volatility and mean-reverting RSI behavior makes it ideal for this strategy. Long-only weakness fixed in Upgrade F with short selling.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KATANA Dashboard · ZORO Terminal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Streamlit dashboard running at localhost:8501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81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996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8470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+ RSI + MACD for selected coin. All 5 coin RSI comparison. AI prediction panel with LSTM confidence bar.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81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4996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8470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7-gate breakdown per coin. Confidence score bar chart. Gate-by-gate result showing which signals fired.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481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4996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9048" y="18470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headlines from CoinDesk + Messari. Sentiment bar chart. Avg compound score feeding the 7th gate.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8152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191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" y="35387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readiness tracker for all 5 coins. Binance Testnet balances. Full trade history from zoro_state.pkl.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8152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3191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35387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Upgrade H results for all 5 coins. Strategy comparison chart: RL Agent vs RSI vs Buy-and-Hold.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308152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3191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99048" y="35387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equity curve (200k training steps). Live BUY/SELL/HOLD signals per coin. Win rate + alpha metrics.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EXPLAINABILITY — SHAP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Bot Make That Trade?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 GradientExplainer shows feature importance per decision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36576" cy="6858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 EXAMPLE:  Bot SHORT BNB-USD at $673.42  [conf=85/100]  —  "RSI overbought (43%) · Bearish sentiment (31%) · Near BB upper band (18%)"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IMPORTANCE — BNB SHORT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(overbought &gt; 70)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560320"/>
            <a:ext cx="4114800" cy="201168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560320"/>
            <a:ext cx="1769364" cy="2011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514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 (bearish)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017520"/>
            <a:ext cx="4114800" cy="201168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3017520"/>
            <a:ext cx="1275588" cy="2011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971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Position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474720"/>
            <a:ext cx="4114800" cy="201168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474720"/>
            <a:ext cx="740664" cy="20116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(SMA20 &lt; SMA50)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931920"/>
            <a:ext cx="4114800" cy="201168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931920"/>
            <a:ext cx="205740" cy="201168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(bearish cross)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4389120"/>
            <a:ext cx="4114800" cy="201168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4389120"/>
            <a:ext cx="123444" cy="201168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solidFill>
            <a:srgbClr val="18A8B8">
              <a:alpha val="12000"/>
            </a:srgbClr>
          </a:solidFill>
          <a:ln w="6350">
            <a:solidFill>
              <a:srgbClr val="18A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908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SHAP makes AI transparent — recruiters and professors can see EXACTLY why the bot made each decision, not just that it did.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 FACED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Difficult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problems encountered and how they were solved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4069080" cy="14630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36576" cy="14630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996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🎚️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LSTM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Initial model showed 64% accuracy due to lookahead bias — MinMaxScaler fitted on all data including test set.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2350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A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Fixed: Re-fitted scaler on training data only. Honest accuracy dropped to 54% — but now it's real.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389888"/>
            <a:ext cx="4069080" cy="14630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89888"/>
            <a:ext cx="36576" cy="14630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4996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Instability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PPO agent kept outputting only HOLD — never learned to trade. RL reward was too noisy.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2350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A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Fixed: Restructured observation space to 7 real features (RSI, MACD, LSTM prob etc.) instead of raw prices.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035808"/>
            <a:ext cx="4069080" cy="14630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35808"/>
            <a:ext cx="36576" cy="14630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1455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163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LOT_SIZE Precision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" y="35387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Binance rejected orders — each coin has different minimum quantity and step size (ETH: 0.0001, ADA: 0.1).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3995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A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Fixed: Fetch minQty and stepSize from Binance API for each coin and round quantity accordingly.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035808"/>
            <a:ext cx="4069080" cy="14630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35808"/>
            <a:ext cx="36576" cy="14630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1455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03520" y="3163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35387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Hugging Face Spaces container failed — PATH issues, TensorFlow GPU warnings, large model file sizes.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3995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A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Fixed: Added TF_ENABLE_ONEDNN_OPTS=0, used CPU-only config, excluded model files from container.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IMPROVEMENTS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ZORO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 upgrades beyond Phase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481328"/>
            <a:ext cx="882396" cy="237744"/>
          </a:xfrm>
          <a:prstGeom prst="rect">
            <a:avLst/>
          </a:prstGeom>
          <a:solidFill>
            <a:srgbClr val="E03030">
              <a:alpha val="15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81328"/>
            <a:ext cx="88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8408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Paper Trading Log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212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bot 30-60 days continuously. Record real PnL per coin. This is the single biggest credibility booster.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481328"/>
            <a:ext cx="882396" cy="237744"/>
          </a:xfrm>
          <a:prstGeom prst="rect">
            <a:avLst/>
          </a:prstGeom>
          <a:solidFill>
            <a:srgbClr val="E03030">
              <a:alpha val="15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481328"/>
            <a:ext cx="88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0128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67328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&amp; Sortino Ratios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212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proper risk-adjusted return metrics. Sharpe &gt; 1.0 would confirm the strategy is genuinely profitable.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1481328"/>
            <a:ext cx="882396" cy="237744"/>
          </a:xfrm>
          <a:prstGeom prst="rect">
            <a:avLst/>
          </a:prstGeom>
          <a:solidFill>
            <a:srgbClr val="E03030">
              <a:alpha val="15000"/>
            </a:srgbClr>
          </a:solidFill>
          <a:ln w="6350">
            <a:solidFill>
              <a:srgbClr val="E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1481328"/>
            <a:ext cx="88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99048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56248" y="1828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9048" y="2212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5-min polling with live Binance WebSocket stream. Tick-by-tick signal updates.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081528"/>
            <a:ext cx="36576" cy="15087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" y="3172968"/>
            <a:ext cx="882396" cy="237744"/>
          </a:xfrm>
          <a:prstGeom prst="rect">
            <a:avLst/>
          </a:prstGeom>
          <a:solidFill>
            <a:srgbClr val="C8922A">
              <a:alpha val="15000"/>
            </a:srgbClr>
          </a:solidFill>
          <a:ln w="6350">
            <a:solidFill>
              <a:srgbClr val="C89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172968"/>
            <a:ext cx="88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" y="3502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8408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" y="3904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LSTM with a Temporal Fusion Transformer for better long-range pattern recognition.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081528"/>
            <a:ext cx="36576" cy="15087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172968"/>
            <a:ext cx="882396" cy="237744"/>
          </a:xfrm>
          <a:prstGeom prst="rect">
            <a:avLst/>
          </a:prstGeom>
          <a:solidFill>
            <a:srgbClr val="C8922A">
              <a:alpha val="15000"/>
            </a:srgbClr>
          </a:solidFill>
          <a:ln w="6350">
            <a:solidFill>
              <a:srgbClr val="C892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172968"/>
            <a:ext cx="88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10128" y="3502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767328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Sharpe-Optimized RL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0128" y="3904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PPO agent with Sharpe Ratio as reward instead of PnL — more stable risk-adjusted behavior.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8932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3081528"/>
            <a:ext cx="36576" cy="15087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9048" y="3172968"/>
            <a:ext cx="882396" cy="237744"/>
          </a:xfrm>
          <a:prstGeom prst="rect">
            <a:avLst/>
          </a:prstGeom>
          <a:solidFill>
            <a:srgbClr val="C8922A">
              <a:alpha val="15000"/>
            </a:srgbClr>
          </a:solidFill>
          <a:ln w="6350">
            <a:solidFill>
              <a:srgbClr val="C892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99048" y="3172968"/>
            <a:ext cx="88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99048" y="3502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556248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Support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99048" y="3904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Kraken and Coinbase alongside Binance. Cross-exchange arbitrage signals.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Learned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upgrades. 1 complete AI trading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27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5453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AI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0116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crypto trading bot — from raw price data to Telegram trade alerts on Binance Testnet.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527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15453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Applied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0116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LSTM from scratch, trained PPO RL agent 200k steps, applied FinBERT NLP — real ML engineering.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38988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38988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527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15453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9048" y="20116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LSTM accuracy (walk-forward validated). +18.2% alpha vs Buy-and-Hold. BNB +16.9% backtest return.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8152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2186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236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" y="370332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shows exactly why each trade fired — not a black box. Phase 4 complete.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8152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2186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94760" y="3236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370332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FastAPI backend + PostgreSQL + Docker + Hugging Face live demo — production pipeline.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3081528"/>
            <a:ext cx="2560320" cy="150876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3081528"/>
            <a:ext cx="36576" cy="1508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32186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83680" y="3236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Growth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99048" y="370332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a messy notebook to a modular Python package with proper DB, API, validation, and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3657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⚔️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6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743200"/>
            <a:ext cx="2834640" cy="777240"/>
          </a:xfrm>
          <a:prstGeom prst="rect">
            <a:avLst/>
          </a:prstGeom>
          <a:solidFill>
            <a:srgbClr val="0D1117"/>
          </a:solidFill>
          <a:ln w="9525">
            <a:solidFill>
              <a:srgbClr val="E030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743200"/>
            <a:ext cx="36576" cy="7772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798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🐙  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3090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github.com/shivams496/ZORO-Crypto-Bot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37760" y="2743200"/>
            <a:ext cx="2834640" cy="777240"/>
          </a:xfrm>
          <a:prstGeom prst="rect">
            <a:avLst/>
          </a:prstGeom>
          <a:solidFill>
            <a:srgbClr val="0D1117"/>
          </a:solidFill>
          <a:ln w="9525">
            <a:solidFill>
              <a:srgbClr val="18A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2743200"/>
            <a:ext cx="36576" cy="777240"/>
          </a:xfrm>
          <a:prstGeom prst="rect">
            <a:avLst/>
          </a:prstGeom>
          <a:solidFill>
            <a:srgbClr val="18A8B8"/>
          </a:solidFill>
          <a:ln w="12700">
            <a:solidFill>
              <a:srgbClr val="18A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798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🤗  Hugging Face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30906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huggingface.co/spaces/shivams496/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Zoro-crypto-bot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64.8% Win Rate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Coins Traded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9476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+18.2% Alpha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Upgrades A→H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7804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Complete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4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 trading only — no real money at risk  ·  github.com/shivams496/ZORO-Crypto-Bot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ZORO — Crypto AI Trading Bot</dc:title>
  <dc:subject>PptxGenJS Presentation</dc:subject>
  <dc:creator>PptxGenJS</dc:creator>
  <cp:lastModifiedBy>PptxGenJS</cp:lastModifiedBy>
  <cp:revision>1</cp:revision>
  <dcterms:created xsi:type="dcterms:W3CDTF">2026-05-30T17:52:16Z</dcterms:created>
  <dcterms:modified xsi:type="dcterms:W3CDTF">2026-05-30T17:52:16Z</dcterms:modified>
</cp:coreProperties>
</file>